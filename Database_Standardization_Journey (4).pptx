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Database Modernization Journey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0" y="823317"/>
            <a:ext cx="9144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Standardizing Applications on Aurora PostgreSQL Multi-Region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696683" y="1343025"/>
            <a:ext cx="2678543" cy="33039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Current State: Fragmented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651867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36" y="1980605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142" y="2302073"/>
            <a:ext cx="37061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Web App</a:t>
            </a:r>
            <a:endParaRPr lang="en-US" sz="584" dirty="0"/>
          </a:p>
        </p:txBody>
      </p:sp>
      <p:sp>
        <p:nvSpPr>
          <p:cNvPr id="9" name="Shape 5"/>
          <p:cNvSpPr/>
          <p:nvPr/>
        </p:nvSpPr>
        <p:spPr>
          <a:xfrm>
            <a:off x="1455539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839" y="1980605"/>
            <a:ext cx="12858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98082" y="2302073"/>
            <a:ext cx="47210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Mobile App</a:t>
            </a:r>
            <a:endParaRPr lang="en-US" sz="584" dirty="0"/>
          </a:p>
        </p:txBody>
      </p:sp>
      <p:sp>
        <p:nvSpPr>
          <p:cNvPr id="12" name="Shape 7"/>
          <p:cNvSpPr/>
          <p:nvPr/>
        </p:nvSpPr>
        <p:spPr>
          <a:xfrm>
            <a:off x="2259211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648" y="1980605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96871" y="2302073"/>
            <a:ext cx="48186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ERP System</a:t>
            </a:r>
            <a:endParaRPr lang="en-US" sz="584" dirty="0"/>
          </a:p>
        </p:txBody>
      </p:sp>
      <p:sp>
        <p:nvSpPr>
          <p:cNvPr id="15" name="Shape 9"/>
          <p:cNvSpPr/>
          <p:nvPr/>
        </p:nvSpPr>
        <p:spPr>
          <a:xfrm>
            <a:off x="3062883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52" y="1980605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052056" y="2302073"/>
            <a:ext cx="378842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Analytics</a:t>
            </a:r>
            <a:endParaRPr lang="en-US" sz="584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81" y="2690682"/>
            <a:ext cx="357188" cy="3571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8625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Aurora PostgreSQL</a:t>
            </a:r>
            <a:endParaRPr lang="en-US" sz="58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4950" y="2690682"/>
            <a:ext cx="357188" cy="3571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547794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Aurora MySQL</a:t>
            </a:r>
            <a:endParaRPr lang="en-US" sz="584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4147" y="2690682"/>
            <a:ext cx="357188" cy="3571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666991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RDS SQL Server</a:t>
            </a:r>
            <a:endParaRPr lang="en-US" sz="584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" y="3453612"/>
            <a:ext cx="357188" cy="3571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84715" y="3867950"/>
            <a:ext cx="45932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RDS Oracle</a:t>
            </a:r>
            <a:endParaRPr lang="en-US" sz="584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4950" y="3453612"/>
            <a:ext cx="357188" cy="3571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547794" y="386795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On-Prem Oracle</a:t>
            </a:r>
            <a:endParaRPr lang="en-US" sz="584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4147" y="3453612"/>
            <a:ext cx="357188" cy="3571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2666991" y="386795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On-Prem Server</a:t>
            </a:r>
            <a:endParaRPr lang="en-US" sz="584" dirty="0"/>
          </a:p>
        </p:txBody>
      </p:sp>
      <p:sp>
        <p:nvSpPr>
          <p:cNvPr id="30" name="Text 17"/>
          <p:cNvSpPr/>
          <p:nvPr/>
        </p:nvSpPr>
        <p:spPr>
          <a:xfrm>
            <a:off x="3949182" y="2936081"/>
            <a:ext cx="124563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Modernization &amp;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Standardization</a:t>
            </a:r>
            <a:endParaRPr lang="en-US" sz="885" dirty="0"/>
          </a:p>
        </p:txBody>
      </p:sp>
      <p:sp>
        <p:nvSpPr>
          <p:cNvPr id="31" name="Text 18"/>
          <p:cNvSpPr/>
          <p:nvPr/>
        </p:nvSpPr>
        <p:spPr>
          <a:xfrm>
            <a:off x="5788754" y="1343025"/>
            <a:ext cx="2638555" cy="33039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Target State: Standardized</a:t>
            </a:r>
            <a:endParaRPr lang="en-US" sz="1397" dirty="0"/>
          </a:p>
        </p:txBody>
      </p:sp>
      <p:sp>
        <p:nvSpPr>
          <p:cNvPr id="32" name="Shape 19"/>
          <p:cNvSpPr/>
          <p:nvPr/>
        </p:nvSpPr>
        <p:spPr>
          <a:xfrm>
            <a:off x="5723930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798" y="1980605"/>
            <a:ext cx="171450" cy="17145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717205" y="2302073"/>
            <a:ext cx="37061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Web App</a:t>
            </a:r>
            <a:endParaRPr lang="en-US" sz="584" dirty="0"/>
          </a:p>
        </p:txBody>
      </p:sp>
      <p:sp>
        <p:nvSpPr>
          <p:cNvPr id="35" name="Shape 21"/>
          <p:cNvSpPr/>
          <p:nvPr/>
        </p:nvSpPr>
        <p:spPr>
          <a:xfrm>
            <a:off x="6527602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1902" y="1980605"/>
            <a:ext cx="128588" cy="17145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470145" y="2302073"/>
            <a:ext cx="47210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Mobile App</a:t>
            </a:r>
            <a:endParaRPr lang="en-US" sz="584" dirty="0"/>
          </a:p>
        </p:txBody>
      </p:sp>
      <p:sp>
        <p:nvSpPr>
          <p:cNvPr id="38" name="Shape 23"/>
          <p:cNvSpPr/>
          <p:nvPr/>
        </p:nvSpPr>
        <p:spPr>
          <a:xfrm>
            <a:off x="7331273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2711" y="1980605"/>
            <a:ext cx="214313" cy="17145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7268933" y="2302073"/>
            <a:ext cx="48186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ERP System</a:t>
            </a:r>
            <a:endParaRPr lang="en-US" sz="584" dirty="0"/>
          </a:p>
        </p:txBody>
      </p:sp>
      <p:sp>
        <p:nvSpPr>
          <p:cNvPr id="41" name="Shape 25"/>
          <p:cNvSpPr/>
          <p:nvPr/>
        </p:nvSpPr>
        <p:spPr>
          <a:xfrm>
            <a:off x="8134945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7814" y="1980605"/>
            <a:ext cx="171450" cy="17145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8124118" y="2302073"/>
            <a:ext cx="378842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Analytics</a:t>
            </a:r>
            <a:endParaRPr lang="en-US" sz="584" dirty="0"/>
          </a:p>
        </p:txBody>
      </p:sp>
      <p:sp>
        <p:nvSpPr>
          <p:cNvPr id="44" name="Shape 27"/>
          <p:cNvSpPr/>
          <p:nvPr/>
        </p:nvSpPr>
        <p:spPr>
          <a:xfrm>
            <a:off x="5500688" y="2690682"/>
            <a:ext cx="3214688" cy="1758395"/>
          </a:xfrm>
          <a:prstGeom prst="rect">
            <a:avLst/>
          </a:prstGeom>
          <a:solidFill>
            <a:srgbClr val="F7FAFC"/>
          </a:solidFill>
          <a:ln w="18288">
            <a:solidFill>
              <a:srgbClr val="CBD5E0"/>
            </a:solidFill>
            <a:prstDash val="dash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22281" y="2904995"/>
            <a:ext cx="571500" cy="57150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512784" y="3547932"/>
            <a:ext cx="119046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Aurora PostgreSQL</a:t>
            </a:r>
            <a:endParaRPr lang="en-US" sz="885" dirty="0"/>
          </a:p>
        </p:txBody>
      </p:sp>
      <p:sp>
        <p:nvSpPr>
          <p:cNvPr id="47" name="Text 29"/>
          <p:cNvSpPr/>
          <p:nvPr/>
        </p:nvSpPr>
        <p:spPr>
          <a:xfrm>
            <a:off x="6607494" y="3702221"/>
            <a:ext cx="100104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18096"/>
                </a:solidFill>
              </a:rPr>
              <a:t>Multi-Region Cluster</a:t>
            </a:r>
            <a:endParaRPr lang="en-US" sz="683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2194" y="3965088"/>
            <a:ext cx="114300" cy="11430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6021623" y="4107963"/>
            <a:ext cx="3154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A</a:t>
            </a:r>
            <a:endParaRPr lang="en-US" sz="485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0881" y="3965088"/>
            <a:ext cx="114300" cy="11430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6950952" y="4107963"/>
            <a:ext cx="31413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B</a:t>
            </a:r>
            <a:endParaRPr lang="en-US" sz="485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79569" y="3965088"/>
            <a:ext cx="114300" cy="114300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7880896" y="4107963"/>
            <a:ext cx="31161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C</a:t>
            </a:r>
            <a:endParaRPr lang="en-US" sz="4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A202C"/>
                </a:solidFill>
              </a:rPr>
              <a:t>Modernization Stages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0" y="785813"/>
            <a:ext cx="9144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A5568"/>
                </a:solidFill>
              </a:rPr>
              <a:t>Evolution of Multi-Region Database Architecture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2757488" cy="357187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2566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1552566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047508" y="1714500"/>
            <a:ext cx="12244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Active-Pilot Light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24235" y="1944886"/>
            <a:ext cx="1270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Existing Database Platform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28625" y="2259211"/>
            <a:ext cx="2462222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59002" y="2366367"/>
            <a:ext cx="8014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 (Primary)</a:t>
            </a:r>
            <a:endParaRPr lang="en-US" sz="58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14" y="2553891"/>
            <a:ext cx="150019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9670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859" y="2976265"/>
            <a:ext cx="8572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29559" y="3090565"/>
            <a:ext cx="46035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Async Backup</a:t>
            </a:r>
            <a:endParaRPr lang="en-US" sz="516" dirty="0"/>
          </a:p>
        </p:txBody>
      </p:sp>
      <p:sp>
        <p:nvSpPr>
          <p:cNvPr id="16" name="Shape 11"/>
          <p:cNvSpPr/>
          <p:nvPr/>
        </p:nvSpPr>
        <p:spPr>
          <a:xfrm>
            <a:off x="428625" y="3225403"/>
            <a:ext cx="2462222" cy="58757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208494" y="3332559"/>
            <a:ext cx="902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 (Secondary)</a:t>
            </a:r>
            <a:endParaRPr lang="en-US" sz="58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26" y="3520083"/>
            <a:ext cx="128588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5651" y="3537942"/>
            <a:ext cx="6081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18096"/>
                </a:solidFill>
              </a:rPr>
              <a:t>PILOT LIGHT</a:t>
            </a:r>
            <a:endParaRPr lang="en-US" sz="683" dirty="0"/>
          </a:p>
        </p:txBody>
      </p:sp>
      <p:sp>
        <p:nvSpPr>
          <p:cNvPr id="20" name="Shape 14"/>
          <p:cNvSpPr/>
          <p:nvPr/>
        </p:nvSpPr>
        <p:spPr>
          <a:xfrm>
            <a:off x="1224707" y="4541639"/>
            <a:ext cx="870031" cy="173236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21" name="Text 15"/>
          <p:cNvSpPr/>
          <p:nvPr/>
        </p:nvSpPr>
        <p:spPr>
          <a:xfrm>
            <a:off x="1224707" y="4541639"/>
            <a:ext cx="870031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Legacy Platform</a:t>
            </a:r>
            <a:endParaRPr lang="en-US" sz="584" dirty="0"/>
          </a:p>
        </p:txBody>
      </p:sp>
      <p:sp>
        <p:nvSpPr>
          <p:cNvPr id="22" name="Shape 16"/>
          <p:cNvSpPr/>
          <p:nvPr/>
        </p:nvSpPr>
        <p:spPr>
          <a:xfrm>
            <a:off x="3176597" y="1285875"/>
            <a:ext cx="2762259" cy="357187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450528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4" name="Text 18"/>
          <p:cNvSpPr/>
          <p:nvPr/>
        </p:nvSpPr>
        <p:spPr>
          <a:xfrm>
            <a:off x="4450528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25" name="Text 19"/>
          <p:cNvSpPr/>
          <p:nvPr/>
        </p:nvSpPr>
        <p:spPr>
          <a:xfrm>
            <a:off x="3790959" y="1714500"/>
            <a:ext cx="15334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Active-Warm Standby</a:t>
            </a:r>
            <a:endParaRPr lang="en-US" sz="987" dirty="0"/>
          </a:p>
        </p:txBody>
      </p:sp>
      <p:sp>
        <p:nvSpPr>
          <p:cNvPr id="26" name="Text 20"/>
          <p:cNvSpPr/>
          <p:nvPr/>
        </p:nvSpPr>
        <p:spPr>
          <a:xfrm>
            <a:off x="3922198" y="1944886"/>
            <a:ext cx="1270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Existing Database Platform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3324216" y="2259211"/>
            <a:ext cx="2466966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156965" y="2366367"/>
            <a:ext cx="8014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 (Primary)</a:t>
            </a:r>
            <a:endParaRPr lang="en-US" sz="584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176" y="2553891"/>
            <a:ext cx="150019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97632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822" y="2990552"/>
            <a:ext cx="85725" cy="857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69355" y="3076277"/>
            <a:ext cx="77668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182CE"/>
                </a:solidFill>
              </a:rPr>
              <a:t>Continuous Replication</a:t>
            </a:r>
            <a:endParaRPr lang="en-US" sz="516" dirty="0"/>
          </a:p>
        </p:txBody>
      </p:sp>
      <p:sp>
        <p:nvSpPr>
          <p:cNvPr id="33" name="Shape 25"/>
          <p:cNvSpPr/>
          <p:nvPr/>
        </p:nvSpPr>
        <p:spPr>
          <a:xfrm>
            <a:off x="3324216" y="3225403"/>
            <a:ext cx="2466966" cy="58757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06456" y="3332559"/>
            <a:ext cx="902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 (Secondary)</a:t>
            </a:r>
            <a:endParaRPr lang="en-US" sz="584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575" y="3520083"/>
            <a:ext cx="107156" cy="17145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250168" y="3537942"/>
            <a:ext cx="7936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182CE"/>
                </a:solidFill>
              </a:rPr>
              <a:t>WARM STANDBY</a:t>
            </a:r>
            <a:endParaRPr lang="en-US" sz="683" dirty="0"/>
          </a:p>
        </p:txBody>
      </p:sp>
      <p:sp>
        <p:nvSpPr>
          <p:cNvPr id="37" name="Shape 28"/>
          <p:cNvSpPr/>
          <p:nvPr/>
        </p:nvSpPr>
        <p:spPr>
          <a:xfrm>
            <a:off x="4122669" y="4541639"/>
            <a:ext cx="870031" cy="173236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8" name="Text 29"/>
          <p:cNvSpPr/>
          <p:nvPr/>
        </p:nvSpPr>
        <p:spPr>
          <a:xfrm>
            <a:off x="4122669" y="4541639"/>
            <a:ext cx="870031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Legacy Platform</a:t>
            </a:r>
            <a:endParaRPr lang="en-US" sz="584" dirty="0"/>
          </a:p>
        </p:txBody>
      </p:sp>
      <p:sp>
        <p:nvSpPr>
          <p:cNvPr id="39" name="Shape 30"/>
          <p:cNvSpPr/>
          <p:nvPr/>
        </p:nvSpPr>
        <p:spPr>
          <a:xfrm>
            <a:off x="6076931" y="1285875"/>
            <a:ext cx="2781291" cy="3571875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369978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1" name="Text 32"/>
          <p:cNvSpPr/>
          <p:nvPr/>
        </p:nvSpPr>
        <p:spPr>
          <a:xfrm>
            <a:off x="7369978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42" name="Text 33"/>
          <p:cNvSpPr/>
          <p:nvPr/>
        </p:nvSpPr>
        <p:spPr>
          <a:xfrm>
            <a:off x="7010781" y="1714500"/>
            <a:ext cx="932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Active-Active</a:t>
            </a:r>
            <a:endParaRPr lang="en-US" sz="987" dirty="0"/>
          </a:p>
        </p:txBody>
      </p:sp>
      <p:sp>
        <p:nvSpPr>
          <p:cNvPr id="43" name="Text 34"/>
          <p:cNvSpPr/>
          <p:nvPr/>
        </p:nvSpPr>
        <p:spPr>
          <a:xfrm>
            <a:off x="7029841" y="1944886"/>
            <a:ext cx="8946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Aurora PostgreSQL</a:t>
            </a:r>
            <a:endParaRPr lang="en-US" sz="727" dirty="0"/>
          </a:p>
        </p:txBody>
      </p:sp>
      <p:sp>
        <p:nvSpPr>
          <p:cNvPr id="44" name="Shape 35"/>
          <p:cNvSpPr/>
          <p:nvPr/>
        </p:nvSpPr>
        <p:spPr>
          <a:xfrm>
            <a:off x="6238894" y="2259211"/>
            <a:ext cx="2476509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287909" y="2366367"/>
            <a:ext cx="3784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</a:t>
            </a:r>
            <a:endParaRPr lang="en-US" sz="584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910" y="2553891"/>
            <a:ext cx="171450" cy="1714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427798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9984" y="2976265"/>
            <a:ext cx="114300" cy="1143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52903" y="3090565"/>
            <a:ext cx="64846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182CE"/>
                </a:solidFill>
              </a:rPr>
              <a:t>Global Replication</a:t>
            </a:r>
            <a:endParaRPr lang="en-US" sz="485" dirty="0"/>
          </a:p>
        </p:txBody>
      </p:sp>
      <p:sp>
        <p:nvSpPr>
          <p:cNvPr id="50" name="Shape 39"/>
          <p:cNvSpPr/>
          <p:nvPr/>
        </p:nvSpPr>
        <p:spPr>
          <a:xfrm>
            <a:off x="6238894" y="3225403"/>
            <a:ext cx="2476509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7288662" y="3332559"/>
            <a:ext cx="3769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</a:t>
            </a:r>
            <a:endParaRPr lang="en-US" sz="584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4910" y="3520083"/>
            <a:ext cx="171450" cy="1714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427798" y="3537942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sp>
        <p:nvSpPr>
          <p:cNvPr id="54" name="Shape 42"/>
          <p:cNvSpPr/>
          <p:nvPr/>
        </p:nvSpPr>
        <p:spPr>
          <a:xfrm>
            <a:off x="6986532" y="4541639"/>
            <a:ext cx="981233" cy="173236"/>
          </a:xfrm>
          <a:prstGeom prst="roundRect">
            <a:avLst/>
          </a:prstGeom>
          <a:solidFill>
            <a:srgbClr val="BEE3F8"/>
          </a:solidFill>
          <a:ln/>
        </p:spPr>
      </p:sp>
      <p:sp>
        <p:nvSpPr>
          <p:cNvPr id="55" name="Text 43"/>
          <p:cNvSpPr/>
          <p:nvPr/>
        </p:nvSpPr>
        <p:spPr>
          <a:xfrm>
            <a:off x="6986532" y="4541639"/>
            <a:ext cx="981233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B6CB0"/>
                </a:solidFill>
              </a:rPr>
              <a:t>Aurora PostgreSQL</a:t>
            </a:r>
            <a:endParaRPr lang="en-US" sz="5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505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202C"/>
                </a:solidFill>
              </a:rPr>
              <a:t>Migration Journey Pillars</a:t>
            </a:r>
            <a:endParaRPr lang="en-US" sz="2649" dirty="0"/>
          </a:p>
        </p:txBody>
      </p:sp>
      <p:sp>
        <p:nvSpPr>
          <p:cNvPr id="4" name="Text 1"/>
          <p:cNvSpPr/>
          <p:nvPr/>
        </p:nvSpPr>
        <p:spPr>
          <a:xfrm>
            <a:off x="0" y="1005483"/>
            <a:ext cx="91440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4A5568"/>
                </a:solidFill>
              </a:rPr>
              <a:t>Core Strategic Steps</a:t>
            </a:r>
            <a:endParaRPr lang="en-US" sz="1377" dirty="0"/>
          </a:p>
        </p:txBody>
      </p:sp>
      <p:sp>
        <p:nvSpPr>
          <p:cNvPr id="5" name="Shape 2"/>
          <p:cNvSpPr/>
          <p:nvPr/>
        </p:nvSpPr>
        <p:spPr>
          <a:xfrm>
            <a:off x="1714500" y="3006068"/>
            <a:ext cx="5715000" cy="28575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641" y="2948918"/>
            <a:ext cx="89297" cy="1428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8688" y="2078134"/>
            <a:ext cx="1285875" cy="1285875"/>
          </a:xfrm>
          <a:prstGeom prst="ellipse">
            <a:avLst/>
          </a:prstGeom>
          <a:solidFill>
            <a:srgbClr val="3182CE"/>
          </a:solidFill>
          <a:ln w="54864">
            <a:solidFill>
              <a:srgbClr val="EBF8F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94" y="2471040"/>
            <a:ext cx="500063" cy="5000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4289" y="3578321"/>
            <a:ext cx="193464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Build Framework &amp;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
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Standards</a:t>
            </a:r>
            <a:endParaRPr lang="en-US" sz="1397" dirty="0"/>
          </a:p>
        </p:txBody>
      </p:sp>
      <p:sp>
        <p:nvSpPr>
          <p:cNvPr id="10" name="Shape 5"/>
          <p:cNvSpPr/>
          <p:nvPr/>
        </p:nvSpPr>
        <p:spPr>
          <a:xfrm>
            <a:off x="1230985" y="4129785"/>
            <a:ext cx="681279" cy="192881"/>
          </a:xfrm>
          <a:prstGeom prst="roundRect">
            <a:avLst/>
          </a:prstGeom>
          <a:solidFill>
            <a:srgbClr val="EBF8FF"/>
          </a:solidFill>
          <a:ln/>
        </p:spPr>
      </p:sp>
      <p:sp>
        <p:nvSpPr>
          <p:cNvPr id="11" name="Text 6"/>
          <p:cNvSpPr/>
          <p:nvPr/>
        </p:nvSpPr>
        <p:spPr>
          <a:xfrm>
            <a:off x="1230985" y="4129785"/>
            <a:ext cx="681279" cy="192881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182CE"/>
                </a:solidFill>
              </a:rPr>
              <a:t>Phase 1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3929063" y="2078134"/>
            <a:ext cx="1285875" cy="1285875"/>
          </a:xfrm>
          <a:prstGeom prst="ellipse">
            <a:avLst/>
          </a:prstGeom>
          <a:solidFill>
            <a:srgbClr val="3182CE"/>
          </a:solidFill>
          <a:ln w="54864">
            <a:solidFill>
              <a:srgbClr val="EBF8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223" y="2471040"/>
            <a:ext cx="437555" cy="5000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75779" y="3578321"/>
            <a:ext cx="159241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Remove Vendor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
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Lock-in</a:t>
            </a:r>
            <a:endParaRPr lang="en-US" sz="1397" dirty="0"/>
          </a:p>
        </p:txBody>
      </p:sp>
      <p:sp>
        <p:nvSpPr>
          <p:cNvPr id="15" name="Shape 9"/>
          <p:cNvSpPr/>
          <p:nvPr/>
        </p:nvSpPr>
        <p:spPr>
          <a:xfrm>
            <a:off x="4231360" y="4129785"/>
            <a:ext cx="681279" cy="192881"/>
          </a:xfrm>
          <a:prstGeom prst="roundRect">
            <a:avLst/>
          </a:prstGeom>
          <a:solidFill>
            <a:srgbClr val="EBF8FF"/>
          </a:solidFill>
          <a:ln/>
        </p:spPr>
      </p:sp>
      <p:sp>
        <p:nvSpPr>
          <p:cNvPr id="16" name="Text 10"/>
          <p:cNvSpPr/>
          <p:nvPr/>
        </p:nvSpPr>
        <p:spPr>
          <a:xfrm>
            <a:off x="4231360" y="4129785"/>
            <a:ext cx="681279" cy="192881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182CE"/>
                </a:solidFill>
              </a:rPr>
              <a:t>Phase 2</a:t>
            </a:r>
            <a:endParaRPr lang="en-US" sz="683" dirty="0"/>
          </a:p>
        </p:txBody>
      </p:sp>
      <p:sp>
        <p:nvSpPr>
          <p:cNvPr id="17" name="Shape 11"/>
          <p:cNvSpPr/>
          <p:nvPr/>
        </p:nvSpPr>
        <p:spPr>
          <a:xfrm>
            <a:off x="6929438" y="2078134"/>
            <a:ext cx="1285875" cy="1285875"/>
          </a:xfrm>
          <a:prstGeom prst="ellipse">
            <a:avLst/>
          </a:prstGeom>
          <a:solidFill>
            <a:srgbClr val="3182CE"/>
          </a:solidFill>
          <a:ln w="54864">
            <a:solidFill>
              <a:srgbClr val="EBF8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344" y="2471040"/>
            <a:ext cx="500063" cy="5000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66065" y="3578321"/>
            <a:ext cx="141259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Standardize &amp;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
</a:t>
            </a:r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Redesign</a:t>
            </a:r>
            <a:endParaRPr lang="en-US" sz="1397" dirty="0"/>
          </a:p>
        </p:txBody>
      </p:sp>
      <p:sp>
        <p:nvSpPr>
          <p:cNvPr id="20" name="Shape 13"/>
          <p:cNvSpPr/>
          <p:nvPr/>
        </p:nvSpPr>
        <p:spPr>
          <a:xfrm>
            <a:off x="7231735" y="4129785"/>
            <a:ext cx="681279" cy="192881"/>
          </a:xfrm>
          <a:prstGeom prst="roundRect">
            <a:avLst/>
          </a:prstGeom>
          <a:solidFill>
            <a:srgbClr val="EBF8FF"/>
          </a:solidFill>
          <a:ln/>
        </p:spPr>
      </p:sp>
      <p:sp>
        <p:nvSpPr>
          <p:cNvPr id="21" name="Text 14"/>
          <p:cNvSpPr/>
          <p:nvPr/>
        </p:nvSpPr>
        <p:spPr>
          <a:xfrm>
            <a:off x="7231735" y="4129785"/>
            <a:ext cx="681279" cy="192881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182CE"/>
                </a:solidFill>
              </a:rPr>
              <a:t>Phase 3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313"/>
            <a:ext cx="91440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202C"/>
                </a:solidFill>
              </a:rPr>
              <a:t>Application Migration Paths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0" y="639366"/>
            <a:ext cx="9144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Detailed Roadmap to Target State Architecture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285750" y="905470"/>
            <a:ext cx="8572500" cy="931897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1475" y="1276750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APP 1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1853803" y="1076920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31" y="1180505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00197" y="1455539"/>
            <a:ext cx="428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Oracle RDS</a:t>
            </a:r>
            <a:endParaRPr lang="en-US" sz="534" dirty="0"/>
          </a:p>
        </p:txBody>
      </p:sp>
      <p:sp>
        <p:nvSpPr>
          <p:cNvPr id="10" name="Text 6"/>
          <p:cNvSpPr/>
          <p:nvPr/>
        </p:nvSpPr>
        <p:spPr>
          <a:xfrm>
            <a:off x="1808652" y="1564118"/>
            <a:ext cx="41174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Single Region</a:t>
            </a:r>
            <a:endParaRPr lang="en-US" sz="46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172" y="1307111"/>
            <a:ext cx="71438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44510" y="1076920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81" y="1180505"/>
            <a:ext cx="85725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68511" y="1455539"/>
            <a:ext cx="67346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Active-Pilot Light</a:t>
            </a:r>
            <a:endParaRPr lang="en-US" sz="534" dirty="0"/>
          </a:p>
        </p:txBody>
      </p:sp>
      <p:sp>
        <p:nvSpPr>
          <p:cNvPr id="15" name="Text 9"/>
          <p:cNvSpPr/>
          <p:nvPr/>
        </p:nvSpPr>
        <p:spPr>
          <a:xfrm>
            <a:off x="3838119" y="1564118"/>
            <a:ext cx="33422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Oracle RDS</a:t>
            </a:r>
            <a:endParaRPr lang="en-US" sz="463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878" y="1307111"/>
            <a:ext cx="71438" cy="114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835216" y="1076920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800" y="1180505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39445" y="1455539"/>
            <a:ext cx="51298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Active-Active</a:t>
            </a:r>
            <a:endParaRPr lang="en-US" sz="534" dirty="0"/>
          </a:p>
        </p:txBody>
      </p:sp>
      <p:sp>
        <p:nvSpPr>
          <p:cNvPr id="20" name="Text 12"/>
          <p:cNvSpPr/>
          <p:nvPr/>
        </p:nvSpPr>
        <p:spPr>
          <a:xfrm>
            <a:off x="5785684" y="1564118"/>
            <a:ext cx="42050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Oracle on EC2</a:t>
            </a:r>
            <a:endParaRPr lang="en-US" sz="463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5585" y="1307111"/>
            <a:ext cx="71438" cy="1143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200844" y="991195"/>
            <a:ext cx="1571625" cy="746159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7825922" y="1062633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507" y="1166217"/>
            <a:ext cx="114300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615517" y="1441252"/>
            <a:ext cx="742280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182CE"/>
                </a:solidFill>
              </a:rPr>
              <a:t>Aurora PostgreSQL</a:t>
            </a:r>
            <a:endParaRPr lang="en-US" sz="534" dirty="0"/>
          </a:p>
        </p:txBody>
      </p:sp>
      <p:sp>
        <p:nvSpPr>
          <p:cNvPr id="26" name="Text 16"/>
          <p:cNvSpPr/>
          <p:nvPr/>
        </p:nvSpPr>
        <p:spPr>
          <a:xfrm>
            <a:off x="7594197" y="1549831"/>
            <a:ext cx="78492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Active-Active Multi-Region</a:t>
            </a:r>
            <a:endParaRPr lang="en-US" sz="463" dirty="0"/>
          </a:p>
        </p:txBody>
      </p:sp>
      <p:sp>
        <p:nvSpPr>
          <p:cNvPr id="27" name="Shape 17"/>
          <p:cNvSpPr/>
          <p:nvPr/>
        </p:nvSpPr>
        <p:spPr>
          <a:xfrm>
            <a:off x="285750" y="1865942"/>
            <a:ext cx="8572500" cy="931897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371475" y="2237222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APP 2</a:t>
            </a:r>
            <a:endParaRPr lang="en-US" sz="885" dirty="0"/>
          </a:p>
        </p:txBody>
      </p:sp>
      <p:sp>
        <p:nvSpPr>
          <p:cNvPr id="29" name="Shape 19"/>
          <p:cNvSpPr/>
          <p:nvPr/>
        </p:nvSpPr>
        <p:spPr>
          <a:xfrm>
            <a:off x="1853803" y="2037392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1675" y="2140976"/>
            <a:ext cx="85725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677805" y="2416011"/>
            <a:ext cx="67346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Active-Pilot Light</a:t>
            </a:r>
            <a:endParaRPr lang="en-US" sz="534" dirty="0"/>
          </a:p>
        </p:txBody>
      </p:sp>
      <p:sp>
        <p:nvSpPr>
          <p:cNvPr id="32" name="Text 21"/>
          <p:cNvSpPr/>
          <p:nvPr/>
        </p:nvSpPr>
        <p:spPr>
          <a:xfrm>
            <a:off x="1726974" y="2524590"/>
            <a:ext cx="575128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Aurora PostgreSQL</a:t>
            </a:r>
            <a:endParaRPr lang="en-US" sz="463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1863" y="2267583"/>
            <a:ext cx="71438" cy="1143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4839891" y="2037392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4906" y="2140976"/>
            <a:ext cx="71438" cy="1143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578893" y="2416011"/>
            <a:ext cx="843437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Active-Warm Standby</a:t>
            </a:r>
            <a:endParaRPr lang="en-US" sz="534" dirty="0"/>
          </a:p>
        </p:txBody>
      </p:sp>
      <p:sp>
        <p:nvSpPr>
          <p:cNvPr id="37" name="Text 24"/>
          <p:cNvSpPr/>
          <p:nvPr/>
        </p:nvSpPr>
        <p:spPr>
          <a:xfrm>
            <a:off x="4713061" y="2524590"/>
            <a:ext cx="575128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Aurora PostgreSQL</a:t>
            </a:r>
            <a:endParaRPr lang="en-US" sz="463" dirty="0"/>
          </a:p>
        </p:txBody>
      </p:sp>
      <p:sp>
        <p:nvSpPr>
          <p:cNvPr id="38" name="Shape 25"/>
          <p:cNvSpPr/>
          <p:nvPr/>
        </p:nvSpPr>
        <p:spPr>
          <a:xfrm>
            <a:off x="7200900" y="1951667"/>
            <a:ext cx="1571625" cy="746159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7825978" y="2023104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9563" y="2126689"/>
            <a:ext cx="114300" cy="11430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615572" y="2401723"/>
            <a:ext cx="742280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182CE"/>
                </a:solidFill>
              </a:rPr>
              <a:t>Aurora PostgreSQL</a:t>
            </a:r>
            <a:endParaRPr lang="en-US" sz="534" dirty="0"/>
          </a:p>
        </p:txBody>
      </p:sp>
      <p:sp>
        <p:nvSpPr>
          <p:cNvPr id="42" name="Text 28"/>
          <p:cNvSpPr/>
          <p:nvPr/>
        </p:nvSpPr>
        <p:spPr>
          <a:xfrm>
            <a:off x="7594253" y="2510303"/>
            <a:ext cx="78492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Active-Active Multi-Region</a:t>
            </a:r>
            <a:endParaRPr lang="en-US" sz="463" dirty="0"/>
          </a:p>
        </p:txBody>
      </p:sp>
      <p:sp>
        <p:nvSpPr>
          <p:cNvPr id="43" name="Shape 29"/>
          <p:cNvSpPr/>
          <p:nvPr/>
        </p:nvSpPr>
        <p:spPr>
          <a:xfrm>
            <a:off x="285750" y="2826414"/>
            <a:ext cx="8572500" cy="931897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371475" y="3197693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APP 3</a:t>
            </a:r>
            <a:endParaRPr lang="en-US" sz="885" dirty="0"/>
          </a:p>
        </p:txBody>
      </p:sp>
      <p:sp>
        <p:nvSpPr>
          <p:cNvPr id="45" name="Shape 31"/>
          <p:cNvSpPr/>
          <p:nvPr/>
        </p:nvSpPr>
        <p:spPr>
          <a:xfrm>
            <a:off x="1853803" y="2997864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4531" y="3101448"/>
            <a:ext cx="100013" cy="11430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800197" y="3376482"/>
            <a:ext cx="42868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Oracle RDS</a:t>
            </a:r>
            <a:endParaRPr lang="en-US" sz="534" dirty="0"/>
          </a:p>
        </p:txBody>
      </p:sp>
      <p:sp>
        <p:nvSpPr>
          <p:cNvPr id="48" name="Text 33"/>
          <p:cNvSpPr/>
          <p:nvPr/>
        </p:nvSpPr>
        <p:spPr>
          <a:xfrm>
            <a:off x="1808652" y="3485062"/>
            <a:ext cx="41174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Single Region</a:t>
            </a:r>
            <a:endParaRPr lang="en-US" sz="463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4172" y="3228054"/>
            <a:ext cx="71438" cy="114300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3844510" y="2997864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62381" y="3101448"/>
            <a:ext cx="85725" cy="11430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3668511" y="3376482"/>
            <a:ext cx="67346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Active-Pilot Light</a:t>
            </a:r>
            <a:endParaRPr lang="en-US" sz="534" dirty="0"/>
          </a:p>
        </p:txBody>
      </p:sp>
      <p:sp>
        <p:nvSpPr>
          <p:cNvPr id="53" name="Text 36"/>
          <p:cNvSpPr/>
          <p:nvPr/>
        </p:nvSpPr>
        <p:spPr>
          <a:xfrm>
            <a:off x="3838119" y="3485062"/>
            <a:ext cx="33422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Oracle RDS</a:t>
            </a:r>
            <a:endParaRPr lang="en-US" sz="463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4878" y="3228054"/>
            <a:ext cx="71438" cy="114300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5835216" y="2997864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8800" y="3101448"/>
            <a:ext cx="114300" cy="114300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5739445" y="3376482"/>
            <a:ext cx="51298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Active-Active</a:t>
            </a:r>
            <a:endParaRPr lang="en-US" sz="534" dirty="0"/>
          </a:p>
        </p:txBody>
      </p:sp>
      <p:sp>
        <p:nvSpPr>
          <p:cNvPr id="58" name="Text 39"/>
          <p:cNvSpPr/>
          <p:nvPr/>
        </p:nvSpPr>
        <p:spPr>
          <a:xfrm>
            <a:off x="5785684" y="3485062"/>
            <a:ext cx="42050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Oracle on EC2</a:t>
            </a:r>
            <a:endParaRPr lang="en-US" sz="463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55585" y="3228054"/>
            <a:ext cx="71438" cy="114300"/>
          </a:xfrm>
          <a:prstGeom prst="rect">
            <a:avLst/>
          </a:prstGeom>
        </p:spPr>
      </p:pic>
      <p:sp>
        <p:nvSpPr>
          <p:cNvPr id="60" name="Shape 40"/>
          <p:cNvSpPr/>
          <p:nvPr/>
        </p:nvSpPr>
        <p:spPr>
          <a:xfrm>
            <a:off x="7200844" y="2912139"/>
            <a:ext cx="1571625" cy="746159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61" name="Shape 41"/>
          <p:cNvSpPr/>
          <p:nvPr/>
        </p:nvSpPr>
        <p:spPr>
          <a:xfrm>
            <a:off x="7825922" y="2983576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29507" y="3087160"/>
            <a:ext cx="114300" cy="114300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7615517" y="3362195"/>
            <a:ext cx="742280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182CE"/>
                </a:solidFill>
              </a:rPr>
              <a:t>Aurora PostgreSQL</a:t>
            </a:r>
            <a:endParaRPr lang="en-US" sz="534" dirty="0"/>
          </a:p>
        </p:txBody>
      </p:sp>
      <p:sp>
        <p:nvSpPr>
          <p:cNvPr id="64" name="Text 43"/>
          <p:cNvSpPr/>
          <p:nvPr/>
        </p:nvSpPr>
        <p:spPr>
          <a:xfrm>
            <a:off x="7594197" y="3470774"/>
            <a:ext cx="78492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Active-Active Multi-Region</a:t>
            </a:r>
            <a:endParaRPr lang="en-US" sz="463" dirty="0"/>
          </a:p>
        </p:txBody>
      </p:sp>
      <p:sp>
        <p:nvSpPr>
          <p:cNvPr id="65" name="Shape 44"/>
          <p:cNvSpPr/>
          <p:nvPr/>
        </p:nvSpPr>
        <p:spPr>
          <a:xfrm>
            <a:off x="285750" y="3786885"/>
            <a:ext cx="8572500" cy="931897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6" name="Text 45"/>
          <p:cNvSpPr/>
          <p:nvPr/>
        </p:nvSpPr>
        <p:spPr>
          <a:xfrm>
            <a:off x="371475" y="4158165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APP 4</a:t>
            </a:r>
            <a:endParaRPr lang="en-US" sz="885" dirty="0"/>
          </a:p>
        </p:txBody>
      </p:sp>
      <p:sp>
        <p:nvSpPr>
          <p:cNvPr id="67" name="Shape 46"/>
          <p:cNvSpPr/>
          <p:nvPr/>
        </p:nvSpPr>
        <p:spPr>
          <a:xfrm>
            <a:off x="1853803" y="3958335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71675" y="4061920"/>
            <a:ext cx="85725" cy="114300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1677805" y="4336954"/>
            <a:ext cx="673466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Active-Pilot Light</a:t>
            </a:r>
            <a:endParaRPr lang="en-US" sz="534" dirty="0"/>
          </a:p>
        </p:txBody>
      </p:sp>
      <p:sp>
        <p:nvSpPr>
          <p:cNvPr id="70" name="Text 48"/>
          <p:cNvSpPr/>
          <p:nvPr/>
        </p:nvSpPr>
        <p:spPr>
          <a:xfrm>
            <a:off x="1780301" y="4445533"/>
            <a:ext cx="46844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RDS SQL Server</a:t>
            </a:r>
            <a:endParaRPr lang="en-US" sz="463" dirty="0"/>
          </a:p>
        </p:txBody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71863" y="4188526"/>
            <a:ext cx="71438" cy="114300"/>
          </a:xfrm>
          <a:prstGeom prst="rect">
            <a:avLst/>
          </a:prstGeom>
        </p:spPr>
      </p:pic>
      <p:sp>
        <p:nvSpPr>
          <p:cNvPr id="72" name="Shape 49"/>
          <p:cNvSpPr/>
          <p:nvPr/>
        </p:nvSpPr>
        <p:spPr>
          <a:xfrm>
            <a:off x="4839891" y="3958335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64906" y="4061920"/>
            <a:ext cx="71438" cy="114300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4578893" y="4336954"/>
            <a:ext cx="843437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2D3748"/>
                </a:solidFill>
              </a:rPr>
              <a:t>Active-Warm Standby</a:t>
            </a:r>
            <a:endParaRPr lang="en-US" sz="534" dirty="0"/>
          </a:p>
        </p:txBody>
      </p:sp>
      <p:sp>
        <p:nvSpPr>
          <p:cNvPr id="75" name="Text 51"/>
          <p:cNvSpPr/>
          <p:nvPr/>
        </p:nvSpPr>
        <p:spPr>
          <a:xfrm>
            <a:off x="4713061" y="4445533"/>
            <a:ext cx="575128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Aurora PostgreSQL</a:t>
            </a:r>
            <a:endParaRPr lang="en-US" sz="463" dirty="0"/>
          </a:p>
        </p:txBody>
      </p:sp>
      <p:sp>
        <p:nvSpPr>
          <p:cNvPr id="76" name="Shape 52"/>
          <p:cNvSpPr/>
          <p:nvPr/>
        </p:nvSpPr>
        <p:spPr>
          <a:xfrm>
            <a:off x="7200900" y="3872610"/>
            <a:ext cx="1571625" cy="746159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77" name="Shape 53"/>
          <p:cNvSpPr/>
          <p:nvPr/>
        </p:nvSpPr>
        <p:spPr>
          <a:xfrm>
            <a:off x="7825978" y="3944048"/>
            <a:ext cx="321469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29563" y="4047632"/>
            <a:ext cx="114300" cy="114300"/>
          </a:xfrm>
          <a:prstGeom prst="rect">
            <a:avLst/>
          </a:prstGeom>
        </p:spPr>
      </p:pic>
      <p:sp>
        <p:nvSpPr>
          <p:cNvPr id="79" name="Text 54"/>
          <p:cNvSpPr/>
          <p:nvPr/>
        </p:nvSpPr>
        <p:spPr>
          <a:xfrm>
            <a:off x="7615572" y="4322666"/>
            <a:ext cx="742280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182CE"/>
                </a:solidFill>
              </a:rPr>
              <a:t>Aurora PostgreSQL</a:t>
            </a:r>
            <a:endParaRPr lang="en-US" sz="534" dirty="0"/>
          </a:p>
        </p:txBody>
      </p:sp>
      <p:sp>
        <p:nvSpPr>
          <p:cNvPr id="80" name="Text 55"/>
          <p:cNvSpPr/>
          <p:nvPr/>
        </p:nvSpPr>
        <p:spPr>
          <a:xfrm>
            <a:off x="7594253" y="4431246"/>
            <a:ext cx="78492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718096"/>
                </a:solidFill>
              </a:rPr>
              <a:t>Active-Active Multi-Region</a:t>
            </a:r>
            <a:endParaRPr lang="en-US" sz="4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2026-02-20T04:02:21Z</dcterms:created>
  <dcterms:modified xsi:type="dcterms:W3CDTF">2026-02-20T04:02:21Z</dcterms:modified>
</cp:coreProperties>
</file>