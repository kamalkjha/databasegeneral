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Database Modernization Journey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0" y="823317"/>
            <a:ext cx="9144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Standardizing Applications on Aurora PostgreSQL Multi-Region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696683" y="1343025"/>
            <a:ext cx="2678543" cy="33039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Current State: Fragmented</a:t>
            </a:r>
            <a:endParaRPr lang="en-US" sz="1397" dirty="0"/>
          </a:p>
        </p:txBody>
      </p:sp>
      <p:sp>
        <p:nvSpPr>
          <p:cNvPr id="6" name="Shape 3"/>
          <p:cNvSpPr/>
          <p:nvPr/>
        </p:nvSpPr>
        <p:spPr>
          <a:xfrm>
            <a:off x="651867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36" y="1980605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142" y="2302073"/>
            <a:ext cx="370610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Web App</a:t>
            </a:r>
            <a:endParaRPr lang="en-US" sz="584" dirty="0"/>
          </a:p>
        </p:txBody>
      </p:sp>
      <p:sp>
        <p:nvSpPr>
          <p:cNvPr id="9" name="Shape 5"/>
          <p:cNvSpPr/>
          <p:nvPr/>
        </p:nvSpPr>
        <p:spPr>
          <a:xfrm>
            <a:off x="1455539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839" y="1980605"/>
            <a:ext cx="128588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98082" y="2302073"/>
            <a:ext cx="47210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Mobile App</a:t>
            </a:r>
            <a:endParaRPr lang="en-US" sz="584" dirty="0"/>
          </a:p>
        </p:txBody>
      </p:sp>
      <p:sp>
        <p:nvSpPr>
          <p:cNvPr id="12" name="Shape 7"/>
          <p:cNvSpPr/>
          <p:nvPr/>
        </p:nvSpPr>
        <p:spPr>
          <a:xfrm>
            <a:off x="2259211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648" y="1980605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96871" y="2302073"/>
            <a:ext cx="48186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ERP System</a:t>
            </a:r>
            <a:endParaRPr lang="en-US" sz="584" dirty="0"/>
          </a:p>
        </p:txBody>
      </p:sp>
      <p:sp>
        <p:nvSpPr>
          <p:cNvPr id="15" name="Shape 9"/>
          <p:cNvSpPr/>
          <p:nvPr/>
        </p:nvSpPr>
        <p:spPr>
          <a:xfrm>
            <a:off x="3062883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752" y="1980605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052056" y="2302073"/>
            <a:ext cx="378842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Analytics</a:t>
            </a:r>
            <a:endParaRPr lang="en-US" sz="584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781" y="2690682"/>
            <a:ext cx="357188" cy="3571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8625" y="310502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Aurora PostgreSQL</a:t>
            </a:r>
            <a:endParaRPr lang="en-US" sz="584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4950" y="2690682"/>
            <a:ext cx="357188" cy="3571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547794" y="310502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Aurora MySQL</a:t>
            </a:r>
            <a:endParaRPr lang="en-US" sz="584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4147" y="2690682"/>
            <a:ext cx="357188" cy="3571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666991" y="310502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RDS SQL Server</a:t>
            </a:r>
            <a:endParaRPr lang="en-US" sz="584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1" y="3453612"/>
            <a:ext cx="357188" cy="3571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84715" y="3867950"/>
            <a:ext cx="45932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RDS Oracle</a:t>
            </a:r>
            <a:endParaRPr lang="en-US" sz="584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4950" y="3453612"/>
            <a:ext cx="357188" cy="3571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547794" y="386795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On-Prem Oracle</a:t>
            </a:r>
            <a:endParaRPr lang="en-US" sz="584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4147" y="3453612"/>
            <a:ext cx="357188" cy="35718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2666991" y="3867950"/>
            <a:ext cx="5715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On-Prem Server</a:t>
            </a:r>
            <a:endParaRPr lang="en-US" sz="584" dirty="0"/>
          </a:p>
        </p:txBody>
      </p:sp>
      <p:sp>
        <p:nvSpPr>
          <p:cNvPr id="30" name="Text 17"/>
          <p:cNvSpPr/>
          <p:nvPr/>
        </p:nvSpPr>
        <p:spPr>
          <a:xfrm>
            <a:off x="3949182" y="2936081"/>
            <a:ext cx="1245636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Modernization &amp;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Standardization</a:t>
            </a:r>
            <a:endParaRPr lang="en-US" sz="885" dirty="0"/>
          </a:p>
        </p:txBody>
      </p:sp>
      <p:sp>
        <p:nvSpPr>
          <p:cNvPr id="31" name="Text 18"/>
          <p:cNvSpPr/>
          <p:nvPr/>
        </p:nvSpPr>
        <p:spPr>
          <a:xfrm>
            <a:off x="5788754" y="1343025"/>
            <a:ext cx="2638555" cy="33039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3748"/>
                </a:solidFill>
              </a:rPr>
              <a:t>Target State: Standardized</a:t>
            </a:r>
            <a:endParaRPr lang="en-US" sz="1397" dirty="0"/>
          </a:p>
        </p:txBody>
      </p:sp>
      <p:sp>
        <p:nvSpPr>
          <p:cNvPr id="32" name="Shape 19"/>
          <p:cNvSpPr/>
          <p:nvPr/>
        </p:nvSpPr>
        <p:spPr>
          <a:xfrm>
            <a:off x="5723930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6798" y="1980605"/>
            <a:ext cx="171450" cy="17145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717205" y="2302073"/>
            <a:ext cx="370610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Web App</a:t>
            </a:r>
            <a:endParaRPr lang="en-US" sz="584" dirty="0"/>
          </a:p>
        </p:txBody>
      </p:sp>
      <p:sp>
        <p:nvSpPr>
          <p:cNvPr id="35" name="Shape 21"/>
          <p:cNvSpPr/>
          <p:nvPr/>
        </p:nvSpPr>
        <p:spPr>
          <a:xfrm>
            <a:off x="6527602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1902" y="1980605"/>
            <a:ext cx="128588" cy="17145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470145" y="2302073"/>
            <a:ext cx="47210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Mobile App</a:t>
            </a:r>
            <a:endParaRPr lang="en-US" sz="584" dirty="0"/>
          </a:p>
        </p:txBody>
      </p:sp>
      <p:sp>
        <p:nvSpPr>
          <p:cNvPr id="38" name="Shape 23"/>
          <p:cNvSpPr/>
          <p:nvPr/>
        </p:nvSpPr>
        <p:spPr>
          <a:xfrm>
            <a:off x="7331273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2711" y="1980605"/>
            <a:ext cx="214313" cy="17145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7268933" y="2302073"/>
            <a:ext cx="481868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ERP System</a:t>
            </a:r>
            <a:endParaRPr lang="en-US" sz="584" dirty="0"/>
          </a:p>
        </p:txBody>
      </p:sp>
      <p:sp>
        <p:nvSpPr>
          <p:cNvPr id="41" name="Shape 25"/>
          <p:cNvSpPr/>
          <p:nvPr/>
        </p:nvSpPr>
        <p:spPr>
          <a:xfrm>
            <a:off x="8134945" y="1887736"/>
            <a:ext cx="357188" cy="357188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7814" y="1980605"/>
            <a:ext cx="171450" cy="17145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8124118" y="2302073"/>
            <a:ext cx="378842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202C"/>
                </a:solidFill>
              </a:rPr>
              <a:t>Analytics</a:t>
            </a:r>
            <a:endParaRPr lang="en-US" sz="584" dirty="0"/>
          </a:p>
        </p:txBody>
      </p:sp>
      <p:sp>
        <p:nvSpPr>
          <p:cNvPr id="44" name="Shape 27"/>
          <p:cNvSpPr/>
          <p:nvPr/>
        </p:nvSpPr>
        <p:spPr>
          <a:xfrm>
            <a:off x="5500688" y="2690682"/>
            <a:ext cx="3214688" cy="1758395"/>
          </a:xfrm>
          <a:prstGeom prst="rect">
            <a:avLst/>
          </a:prstGeom>
          <a:solidFill>
            <a:srgbClr val="F7FAFC"/>
          </a:solidFill>
          <a:ln w="18288">
            <a:solidFill>
              <a:srgbClr val="CBD5E0"/>
            </a:solidFill>
            <a:prstDash val="dash"/>
          </a:ln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22281" y="2904995"/>
            <a:ext cx="571500" cy="571500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6512784" y="3547932"/>
            <a:ext cx="1190467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</a:rPr>
              <a:t>Aurora PostgreSQL</a:t>
            </a:r>
            <a:endParaRPr lang="en-US" sz="885" dirty="0"/>
          </a:p>
        </p:txBody>
      </p:sp>
      <p:sp>
        <p:nvSpPr>
          <p:cNvPr id="47" name="Text 29"/>
          <p:cNvSpPr/>
          <p:nvPr/>
        </p:nvSpPr>
        <p:spPr>
          <a:xfrm>
            <a:off x="6607494" y="3702221"/>
            <a:ext cx="100104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18096"/>
                </a:solidFill>
              </a:rPr>
              <a:t>Multi-Region Cluster</a:t>
            </a:r>
            <a:endParaRPr lang="en-US" sz="683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2194" y="3965088"/>
            <a:ext cx="114300" cy="114300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6021623" y="4107963"/>
            <a:ext cx="3154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18096"/>
                </a:solidFill>
              </a:rPr>
              <a:t>Region A</a:t>
            </a:r>
            <a:endParaRPr lang="en-US" sz="485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0881" y="3965088"/>
            <a:ext cx="114300" cy="114300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6950952" y="4107963"/>
            <a:ext cx="31413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18096"/>
                </a:solidFill>
              </a:rPr>
              <a:t>Region B</a:t>
            </a:r>
            <a:endParaRPr lang="en-US" sz="485" dirty="0"/>
          </a:p>
        </p:txBody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79569" y="3965088"/>
            <a:ext cx="114300" cy="114300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7880896" y="4107963"/>
            <a:ext cx="31161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18096"/>
                </a:solidFill>
              </a:rPr>
              <a:t>Region C</a:t>
            </a:r>
            <a:endParaRPr lang="en-US" sz="4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1A202C"/>
                </a:solidFill>
              </a:rPr>
              <a:t>Modernization Stages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0" y="785813"/>
            <a:ext cx="9144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A5568"/>
                </a:solidFill>
              </a:rPr>
              <a:t>Evolution of Multi-Region Database Architecture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2757488" cy="357187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52566" y="1428750"/>
            <a:ext cx="214313" cy="214313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7" name="Text 4"/>
          <p:cNvSpPr/>
          <p:nvPr/>
        </p:nvSpPr>
        <p:spPr>
          <a:xfrm>
            <a:off x="1552566" y="142875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1047508" y="1714500"/>
            <a:ext cx="12244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Active-Pilot Light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024235" y="1944886"/>
            <a:ext cx="12709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</a:rPr>
              <a:t>Existing Database Platform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428625" y="2259211"/>
            <a:ext cx="2462222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59002" y="2366367"/>
            <a:ext cx="8014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A (Primary)</a:t>
            </a:r>
            <a:endParaRPr lang="en-US" sz="58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14" y="2553891"/>
            <a:ext cx="150019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99670" y="2571750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859" y="2976265"/>
            <a:ext cx="85725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29559" y="3090565"/>
            <a:ext cx="46035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Async Backup</a:t>
            </a:r>
            <a:endParaRPr lang="en-US" sz="516" dirty="0"/>
          </a:p>
        </p:txBody>
      </p:sp>
      <p:sp>
        <p:nvSpPr>
          <p:cNvPr id="16" name="Shape 11"/>
          <p:cNvSpPr/>
          <p:nvPr/>
        </p:nvSpPr>
        <p:spPr>
          <a:xfrm>
            <a:off x="428625" y="3225403"/>
            <a:ext cx="2462222" cy="58757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208494" y="3332559"/>
            <a:ext cx="9024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B (Secondary)</a:t>
            </a:r>
            <a:endParaRPr lang="en-US" sz="58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26" y="3520083"/>
            <a:ext cx="128588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55651" y="3537942"/>
            <a:ext cx="6081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18096"/>
                </a:solidFill>
              </a:rPr>
              <a:t>PILOT LIGHT</a:t>
            </a:r>
            <a:endParaRPr lang="en-US" sz="683" dirty="0"/>
          </a:p>
        </p:txBody>
      </p:sp>
      <p:sp>
        <p:nvSpPr>
          <p:cNvPr id="20" name="Shape 14"/>
          <p:cNvSpPr/>
          <p:nvPr/>
        </p:nvSpPr>
        <p:spPr>
          <a:xfrm>
            <a:off x="1224707" y="4541639"/>
            <a:ext cx="870031" cy="173236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21" name="Text 15"/>
          <p:cNvSpPr/>
          <p:nvPr/>
        </p:nvSpPr>
        <p:spPr>
          <a:xfrm>
            <a:off x="1224707" y="4541639"/>
            <a:ext cx="870031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Legacy Platform</a:t>
            </a:r>
            <a:endParaRPr lang="en-US" sz="584" dirty="0"/>
          </a:p>
        </p:txBody>
      </p:sp>
      <p:sp>
        <p:nvSpPr>
          <p:cNvPr id="22" name="Shape 16"/>
          <p:cNvSpPr/>
          <p:nvPr/>
        </p:nvSpPr>
        <p:spPr>
          <a:xfrm>
            <a:off x="3176597" y="1285875"/>
            <a:ext cx="2762259" cy="357187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450528" y="1428750"/>
            <a:ext cx="214313" cy="214313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4" name="Text 18"/>
          <p:cNvSpPr/>
          <p:nvPr/>
        </p:nvSpPr>
        <p:spPr>
          <a:xfrm>
            <a:off x="4450528" y="142875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25" name="Text 19"/>
          <p:cNvSpPr/>
          <p:nvPr/>
        </p:nvSpPr>
        <p:spPr>
          <a:xfrm>
            <a:off x="3790959" y="1714500"/>
            <a:ext cx="15334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Active-Warm Standby</a:t>
            </a:r>
            <a:endParaRPr lang="en-US" sz="987" dirty="0"/>
          </a:p>
        </p:txBody>
      </p:sp>
      <p:sp>
        <p:nvSpPr>
          <p:cNvPr id="26" name="Text 20"/>
          <p:cNvSpPr/>
          <p:nvPr/>
        </p:nvSpPr>
        <p:spPr>
          <a:xfrm>
            <a:off x="3922198" y="1944886"/>
            <a:ext cx="12709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</a:rPr>
              <a:t>Existing Database Platform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3324216" y="2259211"/>
            <a:ext cx="2466966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156965" y="2366367"/>
            <a:ext cx="8014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A (Primary)</a:t>
            </a:r>
            <a:endParaRPr lang="en-US" sz="584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176" y="2553891"/>
            <a:ext cx="150019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97632" y="2571750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822" y="2990552"/>
            <a:ext cx="85725" cy="857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69355" y="3076277"/>
            <a:ext cx="77668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182CE"/>
                </a:solidFill>
              </a:rPr>
              <a:t>Continuous Replication</a:t>
            </a:r>
            <a:endParaRPr lang="en-US" sz="516" dirty="0"/>
          </a:p>
        </p:txBody>
      </p:sp>
      <p:sp>
        <p:nvSpPr>
          <p:cNvPr id="33" name="Shape 25"/>
          <p:cNvSpPr/>
          <p:nvPr/>
        </p:nvSpPr>
        <p:spPr>
          <a:xfrm>
            <a:off x="3324216" y="3225403"/>
            <a:ext cx="2466966" cy="58757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06456" y="3332559"/>
            <a:ext cx="9024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B (Secondary)</a:t>
            </a:r>
            <a:endParaRPr lang="en-US" sz="584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575" y="3520083"/>
            <a:ext cx="107156" cy="17145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250168" y="3537942"/>
            <a:ext cx="7936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182CE"/>
                </a:solidFill>
              </a:rPr>
              <a:t>WARM STANDBY</a:t>
            </a:r>
            <a:endParaRPr lang="en-US" sz="683" dirty="0"/>
          </a:p>
        </p:txBody>
      </p:sp>
      <p:sp>
        <p:nvSpPr>
          <p:cNvPr id="37" name="Shape 28"/>
          <p:cNvSpPr/>
          <p:nvPr/>
        </p:nvSpPr>
        <p:spPr>
          <a:xfrm>
            <a:off x="4122669" y="4541639"/>
            <a:ext cx="870031" cy="173236"/>
          </a:xfrm>
          <a:prstGeom prst="roundRect">
            <a:avLst/>
          </a:prstGeom>
          <a:solidFill>
            <a:srgbClr val="EDF2F7"/>
          </a:solidFill>
          <a:ln/>
        </p:spPr>
      </p:sp>
      <p:sp>
        <p:nvSpPr>
          <p:cNvPr id="38" name="Text 29"/>
          <p:cNvSpPr/>
          <p:nvPr/>
        </p:nvSpPr>
        <p:spPr>
          <a:xfrm>
            <a:off x="4122669" y="4541639"/>
            <a:ext cx="870031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Legacy Platform</a:t>
            </a:r>
            <a:endParaRPr lang="en-US" sz="584" dirty="0"/>
          </a:p>
        </p:txBody>
      </p:sp>
      <p:sp>
        <p:nvSpPr>
          <p:cNvPr id="39" name="Shape 30"/>
          <p:cNvSpPr/>
          <p:nvPr/>
        </p:nvSpPr>
        <p:spPr>
          <a:xfrm>
            <a:off x="6076931" y="1285875"/>
            <a:ext cx="2781291" cy="3571875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7369978" y="1428750"/>
            <a:ext cx="214313" cy="214313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41" name="Text 32"/>
          <p:cNvSpPr/>
          <p:nvPr/>
        </p:nvSpPr>
        <p:spPr>
          <a:xfrm>
            <a:off x="7369978" y="142875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42" name="Text 33"/>
          <p:cNvSpPr/>
          <p:nvPr/>
        </p:nvSpPr>
        <p:spPr>
          <a:xfrm>
            <a:off x="7010781" y="1714500"/>
            <a:ext cx="932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Active-Active</a:t>
            </a:r>
            <a:endParaRPr lang="en-US" sz="987" dirty="0"/>
          </a:p>
        </p:txBody>
      </p:sp>
      <p:sp>
        <p:nvSpPr>
          <p:cNvPr id="43" name="Text 34"/>
          <p:cNvSpPr/>
          <p:nvPr/>
        </p:nvSpPr>
        <p:spPr>
          <a:xfrm>
            <a:off x="7029841" y="1944886"/>
            <a:ext cx="8946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</a:rPr>
              <a:t>Aurora PostgreSQL</a:t>
            </a:r>
            <a:endParaRPr lang="en-US" sz="727" dirty="0"/>
          </a:p>
        </p:txBody>
      </p:sp>
      <p:sp>
        <p:nvSpPr>
          <p:cNvPr id="44" name="Shape 35"/>
          <p:cNvSpPr/>
          <p:nvPr/>
        </p:nvSpPr>
        <p:spPr>
          <a:xfrm>
            <a:off x="6238894" y="2259211"/>
            <a:ext cx="2476509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287909" y="2366367"/>
            <a:ext cx="3784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A</a:t>
            </a:r>
            <a:endParaRPr lang="en-US" sz="584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4910" y="2553891"/>
            <a:ext cx="171450" cy="17145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427798" y="2571750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9984" y="2976265"/>
            <a:ext cx="114300" cy="1143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152903" y="3090565"/>
            <a:ext cx="64846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182CE"/>
                </a:solidFill>
              </a:rPr>
              <a:t>Global Replication</a:t>
            </a:r>
            <a:endParaRPr lang="en-US" sz="485" dirty="0"/>
          </a:p>
        </p:txBody>
      </p:sp>
      <p:sp>
        <p:nvSpPr>
          <p:cNvPr id="50" name="Shape 39"/>
          <p:cNvSpPr/>
          <p:nvPr/>
        </p:nvSpPr>
        <p:spPr>
          <a:xfrm>
            <a:off x="6238894" y="3225403"/>
            <a:ext cx="2476509" cy="601861"/>
          </a:xfrm>
          <a:prstGeom prst="rect">
            <a:avLst/>
          </a:prstGeom>
          <a:solidFill>
            <a:srgbClr val="EBF8FF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7288662" y="3332559"/>
            <a:ext cx="3769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5568"/>
                </a:solidFill>
              </a:rPr>
              <a:t>Region B</a:t>
            </a:r>
            <a:endParaRPr lang="en-US" sz="584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4910" y="3520083"/>
            <a:ext cx="171450" cy="17145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427798" y="3537942"/>
            <a:ext cx="3415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02C"/>
                </a:solidFill>
              </a:rPr>
              <a:t>ACTIVE</a:t>
            </a:r>
            <a:endParaRPr lang="en-US" sz="683" dirty="0"/>
          </a:p>
        </p:txBody>
      </p:sp>
      <p:sp>
        <p:nvSpPr>
          <p:cNvPr id="54" name="Shape 42"/>
          <p:cNvSpPr/>
          <p:nvPr/>
        </p:nvSpPr>
        <p:spPr>
          <a:xfrm>
            <a:off x="6986532" y="4541639"/>
            <a:ext cx="981233" cy="173236"/>
          </a:xfrm>
          <a:prstGeom prst="roundRect">
            <a:avLst/>
          </a:prstGeom>
          <a:solidFill>
            <a:srgbClr val="BEE3F8"/>
          </a:solidFill>
          <a:ln/>
        </p:spPr>
      </p:sp>
      <p:sp>
        <p:nvSpPr>
          <p:cNvPr id="55" name="Text 43"/>
          <p:cNvSpPr/>
          <p:nvPr/>
        </p:nvSpPr>
        <p:spPr>
          <a:xfrm>
            <a:off x="6986532" y="4541639"/>
            <a:ext cx="981233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B6CB0"/>
                </a:solidFill>
              </a:rPr>
              <a:t>Aurora PostgreSQL</a:t>
            </a:r>
            <a:endParaRPr lang="en-US" sz="5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7188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02C"/>
                </a:solidFill>
              </a:rPr>
              <a:t>Migration Journey Pillars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0" y="894755"/>
            <a:ext cx="9144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A5568"/>
                </a:solidFill>
              </a:rPr>
              <a:t>Strategic Approach to Database Transformation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557338"/>
            <a:ext cx="2619384" cy="3157538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7825" y="1414463"/>
            <a:ext cx="771413" cy="269677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7" name="Text 4"/>
          <p:cNvSpPr/>
          <p:nvPr/>
        </p:nvSpPr>
        <p:spPr>
          <a:xfrm>
            <a:off x="1347825" y="1414463"/>
            <a:ext cx="771413" cy="269677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STEP 01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1376344" y="1843088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81" y="2028825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2938" y="2771775"/>
            <a:ext cx="218121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Build Framework &amp; Standards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642938" y="3326085"/>
            <a:ext cx="218121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Establish a robust migration framework and standardized solutions to ensure consistency and repeatability across all migration phases.</a:t>
            </a:r>
            <a:endParaRPr lang="en-US" sz="83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03" y="3168253"/>
            <a:ext cx="107156" cy="1714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52778" y="1557338"/>
            <a:ext cx="2624128" cy="3157538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179150" y="1414463"/>
            <a:ext cx="771413" cy="269677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15" name="Text 10"/>
          <p:cNvSpPr/>
          <p:nvPr/>
        </p:nvSpPr>
        <p:spPr>
          <a:xfrm>
            <a:off x="4179150" y="1414463"/>
            <a:ext cx="771413" cy="269677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STEP 02</a:t>
            </a:r>
            <a:endParaRPr lang="en-US" sz="784" dirty="0"/>
          </a:p>
        </p:txBody>
      </p:sp>
      <p:sp>
        <p:nvSpPr>
          <p:cNvPr id="16" name="Shape 11"/>
          <p:cNvSpPr/>
          <p:nvPr/>
        </p:nvSpPr>
        <p:spPr>
          <a:xfrm>
            <a:off x="4207669" y="1843088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838" y="2028825"/>
            <a:ext cx="300038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46258" y="2771775"/>
            <a:ext cx="203716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Remove Vendor Lock-in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3471863" y="3120368"/>
            <a:ext cx="218598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Eliminate vendor-specific database features and replace them with database-neutral alternatives to enhance portability and flexibility.</a:t>
            </a:r>
            <a:endParaRPr lang="en-US" sz="834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168253"/>
            <a:ext cx="107156" cy="17145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086475" y="1557338"/>
            <a:ext cx="2628900" cy="3157538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7019990" y="1414463"/>
            <a:ext cx="771413" cy="269677"/>
          </a:xfrm>
          <a:prstGeom prst="roundRect">
            <a:avLst/>
          </a:prstGeom>
          <a:solidFill>
            <a:srgbClr val="3182CE"/>
          </a:solidFill>
          <a:ln/>
        </p:spPr>
      </p:sp>
      <p:sp>
        <p:nvSpPr>
          <p:cNvPr id="23" name="Text 16"/>
          <p:cNvSpPr/>
          <p:nvPr/>
        </p:nvSpPr>
        <p:spPr>
          <a:xfrm>
            <a:off x="7019990" y="1414463"/>
            <a:ext cx="771413" cy="269677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STEP 03</a:t>
            </a:r>
            <a:endParaRPr lang="en-US" sz="784" dirty="0"/>
          </a:p>
        </p:txBody>
      </p:sp>
      <p:sp>
        <p:nvSpPr>
          <p:cNvPr id="24" name="Shape 17"/>
          <p:cNvSpPr/>
          <p:nvPr/>
        </p:nvSpPr>
        <p:spPr>
          <a:xfrm>
            <a:off x="7048509" y="1843088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247" y="2028825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80848" y="2771775"/>
            <a:ext cx="20496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Standardize &amp; Redesign</a:t>
            </a:r>
            <a:endParaRPr lang="en-US" sz="1193" dirty="0"/>
          </a:p>
        </p:txBody>
      </p:sp>
      <p:sp>
        <p:nvSpPr>
          <p:cNvPr id="27" name="Text 19"/>
          <p:cNvSpPr/>
          <p:nvPr/>
        </p:nvSpPr>
        <p:spPr>
          <a:xfrm>
            <a:off x="6310331" y="3120368"/>
            <a:ext cx="2190759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</a:rPr>
              <a:t>Achieve full standardization by redesigning or replacing inefficient legacy processes with modern, optimized cloud-native workflows.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2026-02-19T22:45:09Z</dcterms:created>
  <dcterms:modified xsi:type="dcterms:W3CDTF">2026-02-19T22:45:09Z</dcterms:modified>
</cp:coreProperties>
</file>